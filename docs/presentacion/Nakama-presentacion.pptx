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400" b="0" u="none" strike="noStrike">
                <a:solidFill>
                  <a:srgbClr val="F1F5F9"/>
                </a:solidFill>
                <a:uFillTx/>
                <a:latin typeface="Calibri"/>
              </a:rPr>
              <a:t>Ejemplo: preguntas por semana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Preguntas</c:v>
                </c:pt>
              </c:strCache>
            </c:strRef>
          </c:tx>
          <c:spPr>
            <a:solidFill>
              <a:srgbClr val="3B82F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100" b="0" u="none" strike="noStrike">
                    <a:solidFill>
                      <a:srgbClr val="F1F5F9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27</c:v>
                </c:pt>
                <c:pt idx="4">
                  <c:v>34</c:v>
                </c:pt>
                <c:pt idx="5">
                  <c:v>31</c:v>
                </c:pt>
                <c:pt idx="6">
                  <c:v>42</c:v>
                </c:pt>
                <c:pt idx="7">
                  <c:v>48</c:v>
                </c:pt>
              </c:numCache>
            </c:numRef>
          </c:val>
        </c:ser>
        <c:gapWidth val="150"/>
        <c:overlap val="0"/>
        <c:axId val="88462384"/>
        <c:axId val="73536177"/>
      </c:barChart>
      <c:catAx>
        <c:axId val="884623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A3B0C2"/>
                </a:solidFill>
                <a:uFillTx/>
                <a:latin typeface="Calibri"/>
              </a:defRPr>
            </a:pPr>
          </a:p>
        </c:txPr>
        <c:crossAx val="73536177"/>
        <c:crosses val="autoZero"/>
        <c:auto val="1"/>
        <c:lblAlgn val="ctr"/>
        <c:lblOffset val="100"/>
        <c:noMultiLvlLbl val="0"/>
      </c:catAx>
      <c:valAx>
        <c:axId val="73536177"/>
        <c:scaling>
          <c:orientation val="minMax"/>
        </c:scaling>
        <c:delete val="0"/>
        <c:axPos val="l"/>
        <c:majorGridlines>
          <c:spPr>
            <a:ln w="6480">
              <a:solidFill>
                <a:srgbClr val="22364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A3B0C2"/>
                </a:solidFill>
                <a:uFillTx/>
                <a:latin typeface="Calibri"/>
              </a:defRPr>
            </a:pPr>
          </a:p>
        </c:txPr>
        <c:crossAx val="8846238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desplazar la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el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de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50C6414-3429-442E-8359-F2D2418D7E24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ó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ó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41B8E4-7CD1-4550-A40E-74E34DC7ACA7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problema nace de la experiencia real gestionando incorporaciones. Dos frentes: el tiempo del senior y el uso acrítico de la IA.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749EDA-59B7-47FB-830A-1DACA6F0321D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idea no es prohibir la IA sino que el primer reflejo sea consultar la documentación y la formación del equipo.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9995E4-AA26-4F79-8F51-FD6F84BACBF5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Hay dos roles. La gestión de un recurso y su uso son páginas separadas.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DBFB6F-EE2B-4BCD-956F-CA18EC87FB63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 sugerida: abrir un chatbot, preguntar algo, mostrar la cita, pulsar Explícame más y valorar la respuesta.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9C9344-4C64-4E22-BE26-675A96FC0250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Mostrar el listado paginado, crear un chatbot, subir un documento y asignar el equipo.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E64330-E84F-4859-B3EF-3C8C88235C92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Solo administradores. Mostrar la pantalla Proveedores de IA, pegar la clave de API y revisar el catálogo de modelos. Sin clave, el chat y el borrador de examen con IA no funcionan.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9CE60E-ACEF-4F70-85A8-EB850FDDB3B9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Mostrar la vista Gestionar de una formación: añadir un módulo, activar el bloqueo secuencial y generar un borrador de examen con IA.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43E0C4-05F4-495A-A6BC-2949328CB639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Cursar la formación como usuario, entregar un examen, ver el historial y celebrar al terminar.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50A3D5-787D-4C57-A7A5-5F59272CF460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Solo para personas sin rol de administrador. Los administradores aterrizan en el chat.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7AD9B5-8E70-4A47-9C92-37A93ECC6B0D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datos del gráfico son ilustrativos. En la demo real, la analítica parte de cero y refleja lo que se haga.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79F6B2-AACC-48FB-AA51-85CFB29040C3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ó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ip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FCECBB-3CB8-4EC8-8659-9606F8EC55B4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Cuentas para entrar en la demo. Las dos primeras son las habituales; las tres @seed.nakama.test son personas de relleno del equipo.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0D7BF-AD31-49B9-A812-A8372785A03F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Cerrar con la idea central y agradecer. Estas dos líneas son decisiones planificadas, aún no implementadas.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0973E8-61AA-48B3-B3CD-5603ADA59C1E}" type="slidenum">
              <a:rPr lang="es-E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el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del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754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Victor Moreno Ruiz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4A920E-C388-4ADC-A9E7-B947E04092B4}" type="slidenum">
              <a:rPr lang="en-U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el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del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nakama-appservice.azurewebsites.net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hyperlink" Target="https://nakama-appservice.azurewebsites.net/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ircle big"/>
          <p:cNvSpPr/>
          <p:nvPr/>
        </p:nvSpPr>
        <p:spPr>
          <a:xfrm>
            <a:off x="6035040" y="822960"/>
            <a:ext cx="3291480" cy="3291480"/>
          </a:xfrm>
          <a:prstGeom prst="ellipse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Logotipo de Nakama"/>
          <p:cNvPicPr/>
          <p:nvPr/>
        </p:nvPicPr>
        <p:blipFill>
          <a:blip r:embed="rId1"/>
          <a:stretch/>
        </p:blipFill>
        <p:spPr>
          <a:xfrm>
            <a:off x="6537960" y="132588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1"/>
          <p:cNvSpPr/>
          <p:nvPr/>
        </p:nvSpPr>
        <p:spPr>
          <a:xfrm>
            <a:off x="548640" y="1371600"/>
            <a:ext cx="5486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Nakama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48640" y="242316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Onboarding interno con chatbots y formaciones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48640" y="338328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Para que el equipo aprenda con su propia documentación, sin depender de un senior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Dos </a:t>
            </a: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proble</a:t>
            </a: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mas </a:t>
            </a: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 </a:t>
            </a: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cada </a:t>
            </a: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incorpo</a:t>
            </a: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ración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Card El goteo del senior"/>
          <p:cNvSpPr/>
          <p:nvPr/>
        </p:nvSpPr>
        <p:spPr>
          <a:xfrm>
            <a:off x="457200" y="1371600"/>
            <a:ext cx="4023000" cy="31086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731520" y="1645920"/>
            <a:ext cx="731160" cy="731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El goteo del senior"/>
          <p:cNvPicPr/>
          <p:nvPr/>
        </p:nvPicPr>
        <p:blipFill>
          <a:blip r:embed="rId1"/>
          <a:stretch/>
        </p:blipFill>
        <p:spPr>
          <a:xfrm>
            <a:off x="914400" y="1828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3"/>
          <p:cNvSpPr/>
          <p:nvPr/>
        </p:nvSpPr>
        <p:spPr>
          <a:xfrm>
            <a:off x="731520" y="256032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El goteo del </a:t>
            </a:r>
            <a:r>
              <a:rPr lang="es-ES" sz="2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senior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731520" y="3017520"/>
            <a:ext cx="3474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Las mismas preguntas y los mismos errores de principiante, semana tras semana. Ese tiempo no escala y </a:t>
            </a: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se resta de su trabajo.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Card La IA a ciegas"/>
          <p:cNvSpPr/>
          <p:nvPr/>
        </p:nvSpPr>
        <p:spPr>
          <a:xfrm>
            <a:off x="4663440" y="1371600"/>
            <a:ext cx="4023000" cy="31086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937760" y="1645920"/>
            <a:ext cx="731160" cy="73116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La IA a ciegas"/>
          <p:cNvPicPr/>
          <p:nvPr/>
        </p:nvPicPr>
        <p:blipFill>
          <a:blip r:embed="rId2"/>
          <a:stretch/>
        </p:blipFill>
        <p:spPr>
          <a:xfrm>
            <a:off x="5120640" y="1828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7"/>
          <p:cNvSpPr/>
          <p:nvPr/>
        </p:nvSpPr>
        <p:spPr>
          <a:xfrm>
            <a:off x="4937760" y="256032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La IA a ciegas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4937760" y="3017520"/>
            <a:ext cx="3474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Los juniors aceptan respuestas de la IA sin contrastarlas con la documentación real del equipo. Eso no es aprender: es delegar el pensamiento.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6ADBEF-B7E2-423A-8FD0-6781B15AD052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Una herramienta, dos frentes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Card Chatbots por equipo"/>
          <p:cNvSpPr/>
          <p:nvPr/>
        </p:nvSpPr>
        <p:spPr>
          <a:xfrm>
            <a:off x="457200" y="1371600"/>
            <a:ext cx="4023000" cy="246852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731520" y="1645920"/>
            <a:ext cx="731160" cy="731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Chatbots por equipo"/>
          <p:cNvPicPr/>
          <p:nvPr/>
        </p:nvPicPr>
        <p:blipFill>
          <a:blip r:embed="rId1"/>
          <a:stretch/>
        </p:blipFill>
        <p:spPr>
          <a:xfrm>
            <a:off x="914400" y="1828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3"/>
          <p:cNvSpPr/>
          <p:nvPr/>
        </p:nvSpPr>
        <p:spPr>
          <a:xfrm>
            <a:off x="1600200" y="164592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Chatbots por equipo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731520" y="2560320"/>
            <a:ext cx="3474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Entrenados solo con la documentación de cada equipo. Modo socrático y respuestas con cita de la fuente.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Card Formaciones por módulos"/>
          <p:cNvSpPr/>
          <p:nvPr/>
        </p:nvSpPr>
        <p:spPr>
          <a:xfrm>
            <a:off x="4663440" y="1371600"/>
            <a:ext cx="4023000" cy="246852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4937760" y="1645920"/>
            <a:ext cx="731160" cy="73116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1" descr="Formaciones por módulos"/>
          <p:cNvPicPr/>
          <p:nvPr/>
        </p:nvPicPr>
        <p:blipFill>
          <a:blip r:embed="rId2"/>
          <a:stretch/>
        </p:blipFill>
        <p:spPr>
          <a:xfrm>
            <a:off x="5120640" y="1828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7"/>
          <p:cNvSpPr/>
          <p:nvPr/>
        </p:nvSpPr>
        <p:spPr>
          <a:xfrm>
            <a:off x="5806440" y="164592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Formaciones por módulos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4937760" y="2560320"/>
            <a:ext cx="3474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Vídeos, documentos, ejercicios y exámenes con progreso individual y bloqueo secuencial.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457200" y="41148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No prohibir la IA: </a:t>
            </a:r>
            <a:r>
              <a:rPr lang="es-ES" sz="1800" b="0" i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encauzarla. Primero la </a:t>
            </a:r>
            <a:r>
              <a:rPr lang="es-ES" sz="1800" b="0" i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documentación y la </a:t>
            </a:r>
            <a:r>
              <a:rPr lang="es-ES" sz="1800" b="0" i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formación del equipo.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Dos roles, dos vistas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Card Administrador"/>
          <p:cNvSpPr/>
          <p:nvPr/>
        </p:nvSpPr>
        <p:spPr>
          <a:xfrm>
            <a:off x="457200" y="1371600"/>
            <a:ext cx="4023000" cy="26514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731520" y="1600200"/>
            <a:ext cx="639720" cy="63972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0" descr="Administrador"/>
          <p:cNvPicPr/>
          <p:nvPr/>
        </p:nvPicPr>
        <p:blipFill>
          <a:blip r:embed="rId1"/>
          <a:stretch/>
        </p:blipFill>
        <p:spPr>
          <a:xfrm>
            <a:off x="887040" y="17557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3"/>
          <p:cNvSpPr/>
          <p:nvPr/>
        </p:nvSpPr>
        <p:spPr>
          <a:xfrm>
            <a:off x="1554480" y="16002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Administrador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31520" y="2468880"/>
            <a:ext cx="3565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Crea y gestiona chatbots y formaciones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Sube documentos y asigna equipos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Ve la analítica y todos los chatbots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Card Persona del equipo"/>
          <p:cNvSpPr/>
          <p:nvPr/>
        </p:nvSpPr>
        <p:spPr>
          <a:xfrm>
            <a:off x="4663440" y="1371600"/>
            <a:ext cx="4023000" cy="26514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937760" y="1600200"/>
            <a:ext cx="639720" cy="639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1" descr="Persona del equipo"/>
          <p:cNvPicPr/>
          <p:nvPr/>
        </p:nvPicPr>
        <p:blipFill>
          <a:blip r:embed="rId2"/>
          <a:stretch/>
        </p:blipFill>
        <p:spPr>
          <a:xfrm>
            <a:off x="5093280" y="17557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7"/>
          <p:cNvSpPr/>
          <p:nvPr/>
        </p:nvSpPr>
        <p:spPr>
          <a:xfrm>
            <a:off x="5760720" y="16002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Persona del equipo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4937760" y="2468880"/>
            <a:ext cx="3565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Chatea con los chatbots de su equipo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Cursa las formaciones asignadas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Ve su propio inicio y progreso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457200" y="42062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Gestionar y Cursar son vistas independientes dentro de la misma app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sldNum" idx="6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C15409-1DD8-4150-A55A-6683B38AC2CD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Chat con chatbots especializados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457200" y="1371600"/>
            <a:ext cx="594000" cy="594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Modo socrático"/>
          <p:cNvPicPr/>
          <p:nvPr/>
        </p:nvPicPr>
        <p:blipFill>
          <a:blip r:embed="rId1"/>
          <a:stretch/>
        </p:blipFill>
        <p:spPr>
          <a:xfrm>
            <a:off x="603360" y="15177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2"/>
          <p:cNvSpPr/>
          <p:nvPr/>
        </p:nvSpPr>
        <p:spPr>
          <a:xfrm>
            <a:off x="1234440" y="13532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Modo socrático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1234440" y="173736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Guía con preguntas en lugar de dar la solución directa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4663440" y="1371600"/>
            <a:ext cx="594000" cy="59400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1" descr="Cita de la fuente"/>
          <p:cNvPicPr/>
          <p:nvPr/>
        </p:nvPicPr>
        <p:blipFill>
          <a:blip r:embed="rId2"/>
          <a:stretch/>
        </p:blipFill>
        <p:spPr>
          <a:xfrm>
            <a:off x="4809600" y="15177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5"/>
          <p:cNvSpPr/>
          <p:nvPr/>
        </p:nvSpPr>
        <p:spPr>
          <a:xfrm>
            <a:off x="5440680" y="13532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Cita de la fuente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5440680" y="173736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Ca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da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res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pu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est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ind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ica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de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qu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é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do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cu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me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nt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sal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457200" y="2926080"/>
            <a:ext cx="594000" cy="594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2" descr="Sin mezclar contenido"/>
          <p:cNvPicPr/>
          <p:nvPr/>
        </p:nvPicPr>
        <p:blipFill>
          <a:blip r:embed="rId3"/>
          <a:stretch/>
        </p:blipFill>
        <p:spPr>
          <a:xfrm>
            <a:off x="603360" y="30722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8"/>
          <p:cNvSpPr/>
          <p:nvPr/>
        </p:nvSpPr>
        <p:spPr>
          <a:xfrm>
            <a:off x="1234440" y="29077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Sin mezclar contenido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1234440" y="329184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Cada chatbot solo conoce la documentación de su equipo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4663440" y="2926080"/>
            <a:ext cx="594000" cy="59400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3" descr="Valoración 👍 / 👎"/>
          <p:cNvPicPr/>
          <p:nvPr/>
        </p:nvPicPr>
        <p:blipFill>
          <a:blip r:embed="rId4"/>
          <a:stretch/>
        </p:blipFill>
        <p:spPr>
          <a:xfrm>
            <a:off x="4809600" y="30722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11"/>
          <p:cNvSpPr/>
          <p:nvPr/>
        </p:nvSpPr>
        <p:spPr>
          <a:xfrm>
            <a:off x="5440680" y="29077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Valoración 👍 / 👎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5440680" y="329184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Cada respuesta se puede valorar y alimenta la analítica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457200" y="438912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Botones “Ver respuesta directa” y “Explícame más” bajo la última respuesta. Historial retomable y borrable.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7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48833-6EB0-4495-95D7-E9AD3263E502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Gestión de chatbots (admin)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tep Alta"/>
          <p:cNvSpPr/>
          <p:nvPr/>
        </p:nvSpPr>
        <p:spPr>
          <a:xfrm>
            <a:off x="457200" y="1463040"/>
            <a:ext cx="1919880" cy="26514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1097280" y="1691640"/>
            <a:ext cx="639720" cy="639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0" descr="Alta"/>
          <p:cNvPicPr/>
          <p:nvPr/>
        </p:nvPicPr>
        <p:blipFill>
          <a:blip r:embed="rId1"/>
          <a:stretch/>
        </p:blipFill>
        <p:spPr>
          <a:xfrm>
            <a:off x="1252800" y="18471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3"/>
          <p:cNvSpPr/>
          <p:nvPr/>
        </p:nvSpPr>
        <p:spPr>
          <a:xfrm>
            <a:off x="594360" y="2514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Alta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594360" y="2926080"/>
            <a:ext cx="1645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b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,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y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t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: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b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,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t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t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</a:t>
            </a: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tep Documentos"/>
          <p:cNvSpPr/>
          <p:nvPr/>
        </p:nvSpPr>
        <p:spPr>
          <a:xfrm>
            <a:off x="2541960" y="1463040"/>
            <a:ext cx="1919880" cy="26514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3182040" y="1691640"/>
            <a:ext cx="639720" cy="639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1" descr="Documentos"/>
          <p:cNvPicPr/>
          <p:nvPr/>
        </p:nvPicPr>
        <p:blipFill>
          <a:blip r:embed="rId2"/>
          <a:stretch/>
        </p:blipFill>
        <p:spPr>
          <a:xfrm>
            <a:off x="3337560" y="18471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7"/>
          <p:cNvSpPr/>
          <p:nvPr/>
        </p:nvSpPr>
        <p:spPr>
          <a:xfrm>
            <a:off x="2679120" y="2514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Documentos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2679120" y="2926080"/>
            <a:ext cx="1645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Ingesta de la documentación del equipo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tep Equipo"/>
          <p:cNvSpPr/>
          <p:nvPr/>
        </p:nvSpPr>
        <p:spPr>
          <a:xfrm>
            <a:off x="4626720" y="1463040"/>
            <a:ext cx="1919880" cy="26514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5266800" y="1691640"/>
            <a:ext cx="639720" cy="639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2" descr="Equipo"/>
          <p:cNvPicPr/>
          <p:nvPr/>
        </p:nvPicPr>
        <p:blipFill>
          <a:blip r:embed="rId3"/>
          <a:stretch/>
        </p:blipFill>
        <p:spPr>
          <a:xfrm>
            <a:off x="5422320" y="18471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1"/>
          <p:cNvSpPr/>
          <p:nvPr/>
        </p:nvSpPr>
        <p:spPr>
          <a:xfrm>
            <a:off x="4763880" y="2514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Equipo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4763880" y="2926080"/>
            <a:ext cx="1645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Roles: propietario, editor o lector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tep Analítica"/>
          <p:cNvSpPr/>
          <p:nvPr/>
        </p:nvSpPr>
        <p:spPr>
          <a:xfrm>
            <a:off x="6711840" y="1463040"/>
            <a:ext cx="1919880" cy="26514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7351920" y="1691640"/>
            <a:ext cx="639720" cy="639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3" descr="Analítica"/>
          <p:cNvPicPr/>
          <p:nvPr/>
        </p:nvPicPr>
        <p:blipFill>
          <a:blip r:embed="rId4"/>
          <a:stretch/>
        </p:blipFill>
        <p:spPr>
          <a:xfrm>
            <a:off x="7507080" y="18471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5"/>
          <p:cNvSpPr/>
          <p:nvPr/>
        </p:nvSpPr>
        <p:spPr>
          <a:xfrm>
            <a:off x="6849000" y="2514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Analítica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6849000" y="2926080"/>
            <a:ext cx="1645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Preguntas valoradas como no útiles esta semana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457200" y="434340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“Eliminar” archivo: un administrador puede </a:t>
            </a:r>
            <a:r>
              <a:rPr lang="es-ES" sz="12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reactivarlo desde el filtro “Eliminados”.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90D17D-C227-43BC-87E6-99CE62CF0AB2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Gestión de proveedores de IA (admin)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"/>
          <p:cNvSpPr/>
          <p:nvPr/>
        </p:nvSpPr>
        <p:spPr>
          <a:xfrm>
            <a:off x="457200" y="1767600"/>
            <a:ext cx="639720" cy="639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0" descr="Proveedor"/>
          <p:cNvPicPr/>
          <p:nvPr/>
        </p:nvPicPr>
        <p:blipFill>
          <a:blip r:embed="rId1"/>
          <a:stretch/>
        </p:blipFill>
        <p:spPr>
          <a:xfrm>
            <a:off x="612720" y="19231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2"/>
          <p:cNvSpPr/>
          <p:nvPr/>
        </p:nvSpPr>
        <p:spPr>
          <a:xfrm>
            <a:off x="1325880" y="174924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Proveedor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1325880" y="209664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Se registra cada proveedor de IA; por defecto, Anthropic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1" descr="Clave de API"/>
          <p:cNvPicPr/>
          <p:nvPr/>
        </p:nvPicPr>
        <p:blipFill>
          <a:blip r:embed="rId2"/>
          <a:stretch/>
        </p:blipFill>
        <p:spPr>
          <a:xfrm>
            <a:off x="612720" y="28832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Shape 7"/>
          <p:cNvSpPr/>
          <p:nvPr/>
        </p:nvSpPr>
        <p:spPr>
          <a:xfrm>
            <a:off x="457200" y="2823840"/>
            <a:ext cx="639720" cy="639720"/>
          </a:xfrm>
          <a:prstGeom prst="ellipse">
            <a:avLst/>
          </a:prstGeom>
          <a:solidFill>
            <a:srgbClr val="D78A3C"/>
          </a:solidFill>
          <a:ln w="12700">
            <a:solidFill>
              <a:srgbClr val="D78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2" descr="Catálogo de modelos"/>
          <p:cNvPicPr/>
          <p:nvPr/>
        </p:nvPicPr>
        <p:blipFill>
          <a:blip r:embed="rId3"/>
          <a:stretch/>
        </p:blipFill>
        <p:spPr>
          <a:xfrm>
            <a:off x="612720" y="29793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8"/>
          <p:cNvSpPr/>
          <p:nvPr/>
        </p:nvSpPr>
        <p:spPr>
          <a:xfrm>
            <a:off x="1325880" y="2805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Catálogo de modelos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1325880" y="315288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Modelos disponibles para elegir, como el catálogo de Claude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Provider panel"/>
          <p:cNvSpPr/>
          <p:nvPr/>
        </p:nvSpPr>
        <p:spPr>
          <a:xfrm>
            <a:off x="5577840" y="1371600"/>
            <a:ext cx="3108600" cy="274284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5852160" y="155448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Anthropic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5852160" y="21945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Catálogo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5852160" y="246888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modelos de Claude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5852160" y="28627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Lo usan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5852160" y="31370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el chat y los exámenes con IA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9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167766-1FF6-4932-9B67-95D4D444420D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Formaciones por módulos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ype Vídeo"/>
          <p:cNvSpPr/>
          <p:nvPr/>
        </p:nvSpPr>
        <p:spPr>
          <a:xfrm>
            <a:off x="457200" y="1371600"/>
            <a:ext cx="1919880" cy="146268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Vídeo"/>
          <p:cNvPicPr/>
          <p:nvPr/>
        </p:nvPicPr>
        <p:blipFill>
          <a:blip r:embed="rId1"/>
          <a:stretch/>
        </p:blipFill>
        <p:spPr>
          <a:xfrm>
            <a:off x="1188720" y="1554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2"/>
          <p:cNvSpPr/>
          <p:nvPr/>
        </p:nvSpPr>
        <p:spPr>
          <a:xfrm>
            <a:off x="457200" y="21488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Vídeo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ype Documento"/>
          <p:cNvSpPr/>
          <p:nvPr/>
        </p:nvSpPr>
        <p:spPr>
          <a:xfrm>
            <a:off x="2541960" y="1371600"/>
            <a:ext cx="1919880" cy="146268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1" descr="Documento"/>
          <p:cNvPicPr/>
          <p:nvPr/>
        </p:nvPicPr>
        <p:blipFill>
          <a:blip r:embed="rId2"/>
          <a:stretch/>
        </p:blipFill>
        <p:spPr>
          <a:xfrm>
            <a:off x="3273480" y="1554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4"/>
          <p:cNvSpPr/>
          <p:nvPr/>
        </p:nvSpPr>
        <p:spPr>
          <a:xfrm>
            <a:off x="2541960" y="21488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Documento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ype Ejercicio"/>
          <p:cNvSpPr/>
          <p:nvPr/>
        </p:nvSpPr>
        <p:spPr>
          <a:xfrm>
            <a:off x="4626720" y="1371600"/>
            <a:ext cx="1919880" cy="146268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2" descr="Ejercicio"/>
          <p:cNvPicPr/>
          <p:nvPr/>
        </p:nvPicPr>
        <p:blipFill>
          <a:blip r:embed="rId3"/>
          <a:stretch/>
        </p:blipFill>
        <p:spPr>
          <a:xfrm>
            <a:off x="5358240" y="1554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6"/>
          <p:cNvSpPr/>
          <p:nvPr/>
        </p:nvSpPr>
        <p:spPr>
          <a:xfrm>
            <a:off x="4626720" y="21488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Ejercicio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ype Examen"/>
          <p:cNvSpPr/>
          <p:nvPr/>
        </p:nvSpPr>
        <p:spPr>
          <a:xfrm>
            <a:off x="6711840" y="1371600"/>
            <a:ext cx="1919880" cy="146268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3" descr="Examen"/>
          <p:cNvPicPr/>
          <p:nvPr/>
        </p:nvPicPr>
        <p:blipFill>
          <a:blip r:embed="rId4"/>
          <a:stretch/>
        </p:blipFill>
        <p:spPr>
          <a:xfrm>
            <a:off x="7443360" y="1554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8"/>
          <p:cNvSpPr/>
          <p:nvPr/>
        </p:nvSpPr>
        <p:spPr>
          <a:xfrm>
            <a:off x="6711840" y="21488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Examen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457200" y="310896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6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Bloqueo secuencial opcional entre módulos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6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Configuraciíon facil y rapida de módulos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3B0C2"/>
              </a:buClr>
              <a:buFont typeface="Symbol" charset="2"/>
              <a:buChar char=""/>
            </a:pPr>
            <a:r>
              <a:rPr lang="es-ES" sz="16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Borrador de preguntas generado con IA desde los documentos de la formación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Exámenes corregidos por el servidor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137160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6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1–100</a:t>
            </a:r>
            <a:endParaRPr lang="es-E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237744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No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ta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mí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ni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ma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qu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fija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el 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ad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mi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nis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tra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do</a:t>
            </a: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3291840" y="137160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600" b="1" u="none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∞</a:t>
            </a:r>
            <a:endParaRPr lang="es-E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3291840" y="237744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Reintentos hasta aprobar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6126480" y="137160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600" b="1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s-E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6126480" y="237744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Respuestas correctas expuestas a quien cursa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457200" y="329184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6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Progreso individual por persona: </a:t>
            </a:r>
            <a:r>
              <a:rPr lang="es-ES" sz="16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módulos completados y notas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6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Historial de intentos: fecha, nota </a:t>
            </a:r>
            <a:r>
              <a:rPr lang="es-ES" sz="16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y resultado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6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El admin ve el progreso de todo el </a:t>
            </a:r>
            <a:r>
              <a:rPr lang="es-ES" sz="16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equipo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sldNum" idx="10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046750-B924-4F0F-BC1A-97118E93E359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Inicio personalizado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457200" y="1371600"/>
            <a:ext cx="639720" cy="639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0" descr="Continúa"/>
          <p:cNvPicPr/>
          <p:nvPr/>
        </p:nvPicPr>
        <p:blipFill>
          <a:blip r:embed="rId1"/>
          <a:stretch/>
        </p:blipFill>
        <p:spPr>
          <a:xfrm>
            <a:off x="612720" y="15271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"/>
          <p:cNvSpPr/>
          <p:nvPr/>
        </p:nvSpPr>
        <p:spPr>
          <a:xfrm>
            <a:off x="1325880" y="13532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C</a:t>
            </a: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o</a:t>
            </a: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nt</a:t>
            </a: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in</a:t>
            </a: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úa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1325880" y="17006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La formación más avanzada y su siguiente módulo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457200" y="2331720"/>
            <a:ext cx="639720" cy="63972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1" descr="Tu última conversación"/>
          <p:cNvPicPr/>
          <p:nvPr/>
        </p:nvPicPr>
        <p:blipFill>
          <a:blip r:embed="rId2"/>
          <a:stretch/>
        </p:blipFill>
        <p:spPr>
          <a:xfrm>
            <a:off x="612720" y="24872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5"/>
          <p:cNvSpPr/>
          <p:nvPr/>
        </p:nvSpPr>
        <p:spPr>
          <a:xfrm>
            <a:off x="1325880" y="23133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Tu última conversación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1325880" y="266076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Retómala directamente en el chat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457200" y="3291840"/>
            <a:ext cx="639720" cy="639720"/>
          </a:xfrm>
          <a:prstGeom prst="ellipse">
            <a:avLst/>
          </a:prstGeom>
          <a:solidFill>
            <a:srgbClr val="D78A3C"/>
          </a:solidFill>
          <a:ln w="12700">
            <a:solidFill>
              <a:srgbClr val="D78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2" descr="Pendientes"/>
          <p:cNvPicPr/>
          <p:nvPr/>
        </p:nvPicPr>
        <p:blipFill>
          <a:blip r:embed="rId3"/>
          <a:stretch/>
        </p:blipFill>
        <p:spPr>
          <a:xfrm>
            <a:off x="612720" y="34473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8"/>
          <p:cNvSpPr/>
          <p:nvPr/>
        </p:nvSpPr>
        <p:spPr>
          <a:xfrm>
            <a:off x="1325880" y="32734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Pendientes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1325880" y="36208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Exámenes sin aprobar y formaciones sin terminar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tats panel"/>
          <p:cNvSpPr/>
          <p:nvPr/>
        </p:nvSpPr>
        <p:spPr>
          <a:xfrm>
            <a:off x="5577840" y="1371600"/>
            <a:ext cx="3108600" cy="274284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5852160" y="155448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Preguntas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5852160" y="1920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de la semana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5852160" y="23774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Días activo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5852160" y="2743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en los últimos 30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5852160" y="32004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Formaciones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6"/>
          <p:cNvSpPr/>
          <p:nvPr/>
        </p:nvSpPr>
        <p:spPr>
          <a:xfrm>
            <a:off x="5852160" y="35661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completadas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sldNum" idx="11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DC7CA1-AD90-4167-A1DF-27AB61B4D3E3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Analítica de uso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0" name="Chart 0"/>
          <p:cNvGraphicFramePr/>
          <p:nvPr/>
        </p:nvGraphicFramePr>
        <p:xfrm>
          <a:off x="457200" y="1280160"/>
          <a:ext cx="493740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1" name="Text 1"/>
          <p:cNvSpPr/>
          <p:nvPr/>
        </p:nvSpPr>
        <p:spPr>
          <a:xfrm>
            <a:off x="5669280" y="2147040"/>
            <a:ext cx="3017160" cy="22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Personas activas hoy, en 7 y en 30 días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Preguntas por semana y por chatbot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Tasa de respuestas útiles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5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Preguntas sin buena respuesta: dónde falta documentación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12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8B86E3-A911-486B-A634-6CB55C4D152C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5580000" y="15231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Gráficos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Cómo está construido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Col Backend"/>
          <p:cNvSpPr/>
          <p:nvPr/>
        </p:nvSpPr>
        <p:spPr>
          <a:xfrm>
            <a:off x="457200" y="1371600"/>
            <a:ext cx="2651400" cy="301716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685800" y="15544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Backend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685800" y="2148840"/>
            <a:ext cx="2285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NET 10 · ASP.NET Core Minimal API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Hexagonal + CQRS con MediatR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NHibernate · PostgreSQL 18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JWT + refresh token HttpOnly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Col Frontend"/>
          <p:cNvSpPr/>
          <p:nvPr/>
        </p:nvSpPr>
        <p:spPr>
          <a:xfrm>
            <a:off x="3291840" y="1371600"/>
            <a:ext cx="2651400" cy="301716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3520440" y="15544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93C5FD"/>
                </a:solidFill>
                <a:effectLst/>
                <a:uFillTx/>
                <a:latin typeface="Calibri"/>
              </a:rPr>
              <a:t>Frontend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3520440" y="2148840"/>
            <a:ext cx="2285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React 19 + TypeScript strict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Vite · React Router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Arquitectura por capas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Col Infra y calidad"/>
          <p:cNvSpPr/>
          <p:nvPr/>
        </p:nvSpPr>
        <p:spPr>
          <a:xfrm>
            <a:off x="6126480" y="1371600"/>
            <a:ext cx="2651400" cy="3017160"/>
          </a:xfrm>
          <a:prstGeom prst="rect">
            <a:avLst/>
          </a:prstGeom>
          <a:solidFill>
            <a:srgbClr val="132638"/>
          </a:solidFill>
          <a:ln w="12700">
            <a:solidFill>
              <a:srgbClr val="1326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6355080" y="15544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Infra y calidad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6355080" y="2148840"/>
            <a:ext cx="2285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Docker Compose en local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Terraform en Azure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Tests NUnit + Moq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s-ES" sz="14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Migraciones FluentMigrator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Cuentas de prueba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457200" y="1097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Producción: </a:t>
            </a:r>
            <a:r>
              <a:rPr lang="es-ES" sz="1600" b="0" u="sng" strike="noStrike">
                <a:solidFill>
                  <a:srgbClr val="93C5FD"/>
                </a:solidFill>
                <a:effectLst/>
                <a:uFillTx/>
                <a:latin typeface="Calibri"/>
                <a:hlinkClick r:id="rId1"/>
              </a:rPr>
              <a:t>https://nakama-appservice.azurewebsites.net/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6" name="Test accounts"/>
          <p:cNvGraphicFramePr/>
          <p:nvPr/>
        </p:nvGraphicFramePr>
        <p:xfrm>
          <a:off x="457200" y="1600200"/>
          <a:ext cx="8229240" cy="246888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1828800"/>
              </a:tblGrid>
              <a:tr h="4114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D78A3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132638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D78A3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Email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132638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D78A3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Contraseña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132638"/>
                    </a:solidFill>
                  </a:tcPr>
                </a:tc>
              </a:tr>
              <a:tr h="4114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Administrador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admin@nakama.com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Admin123.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</a:tr>
              <a:tr h="4114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Persona de equipo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user@nakama.com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Admin123.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</a:tr>
              <a:tr h="4114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Administrador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lucia.diaz@seed.nakama.test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Seed1234.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</a:tr>
              <a:tr h="4114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Administrador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mateo.garcia@seed.nakama.test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Seed1234.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</a:tr>
              <a:tr h="4114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Persona de equipo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sofia.blanco@seed.nakama.test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Seed1234.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 w="12240">
                      <a:solidFill>
                        <a:srgbClr val="0A1420"/>
                      </a:solidFill>
                      <a:prstDash val="solid"/>
                    </a:lnL>
                    <a:lnR w="12240">
                      <a:solidFill>
                        <a:srgbClr val="0A1420"/>
                      </a:solidFill>
                      <a:prstDash val="solid"/>
                    </a:lnR>
                    <a:lnT w="12240">
                      <a:solidFill>
                        <a:srgbClr val="0A1420"/>
                      </a:solidFill>
                      <a:prstDash val="solid"/>
                    </a:lnT>
                    <a:lnB w="12240">
                      <a:solidFill>
                        <a:srgbClr val="0A1420"/>
                      </a:solidFill>
                      <a:prstDash val="solid"/>
                    </a:lnB>
                    <a:solidFill>
                      <a:srgbClr val="0F1E2E"/>
                    </a:solidFill>
                  </a:tcPr>
                </a:tc>
              </a:tr>
            </a:tbl>
          </a:graphicData>
        </a:graphic>
      </p:graphicFrame>
      <p:sp>
        <p:nvSpPr>
          <p:cNvPr id="177" name="Text 2"/>
          <p:cNvSpPr/>
          <p:nvPr/>
        </p:nvSpPr>
        <p:spPr>
          <a:xfrm>
            <a:off x="457200" y="42062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t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: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g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u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z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/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b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/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m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-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t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.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q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l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,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o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n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c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t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d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 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p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r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e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v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i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a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s</a:t>
            </a:r>
            <a:r>
              <a:rPr lang="es-ES" sz="1400" b="0" i="1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sldNum" idx="13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B9BFC5-6039-4A9D-9770-3C5BF55A0288}" type="slidenum">
              <a:rPr lang="es-ES" sz="1000" b="0" u="none" strike="noStrike">
                <a:solidFill>
                  <a:srgbClr val="A3B0C2"/>
                </a:solidFill>
                <a:effectLst/>
                <a:uFillTx/>
                <a:latin typeface="Calibri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itle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Siguientes pasos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457200" y="1371600"/>
            <a:ext cx="594000" cy="594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0" descr="Paso"/>
          <p:cNvPicPr/>
          <p:nvPr/>
        </p:nvPicPr>
        <p:blipFill>
          <a:blip r:embed="rId1"/>
          <a:stretch/>
        </p:blipFill>
        <p:spPr>
          <a:xfrm>
            <a:off x="603360" y="15177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2"/>
          <p:cNvSpPr/>
          <p:nvPr/>
        </p:nvSpPr>
        <p:spPr>
          <a:xfrm>
            <a:off x="1280160" y="1371600"/>
            <a:ext cx="7131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Capa LLM con Semantic Kernel y búsqueda vectorial con pgvector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457200" y="2240280"/>
            <a:ext cx="594000" cy="59400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1" descr="Paso"/>
          <p:cNvPicPr/>
          <p:nvPr/>
        </p:nvPicPr>
        <p:blipFill>
          <a:blip r:embed="rId2"/>
          <a:stretch/>
        </p:blipFill>
        <p:spPr>
          <a:xfrm>
            <a:off x="603360" y="23864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4"/>
          <p:cNvSpPr/>
          <p:nvPr/>
        </p:nvSpPr>
        <p:spPr>
          <a:xfrm>
            <a:off x="1280160" y="2240280"/>
            <a:ext cx="7131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Multi-tenancy: una base de datos por cliente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457200" y="3383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i="1" u="none" strike="noStrike">
                <a:solidFill>
                  <a:srgbClr val="D78A3C"/>
                </a:solidFill>
                <a:effectLst/>
                <a:uFillTx/>
                <a:latin typeface="Calibri"/>
                <a:ea typeface="Calibri"/>
              </a:rPr>
              <a:t>Menos interrupciones para el senior. Más criterio para el junior.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457200" y="411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D78A3C"/>
                </a:solidFill>
                <a:effectLst/>
                <a:uFillTx/>
                <a:latin typeface="Calibri"/>
              </a:rPr>
              <a:t>Pruébalo: </a:t>
            </a:r>
            <a:r>
              <a:rPr lang="es-ES" sz="1800" b="0" u="sng" strike="noStrike">
                <a:solidFill>
                  <a:srgbClr val="93C5FD"/>
                </a:solidFill>
                <a:effectLst/>
                <a:uFillTx/>
                <a:latin typeface="Calibri"/>
                <a:hlinkClick r:id="rId3"/>
              </a:rPr>
              <a:t>https://nakama-appservice.azurewebsites.net/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Nakama">
  <a:themeElements>
    <a:clrScheme name="Nakama">
      <a:dk1>
        <a:srgbClr val="0A1420"/>
      </a:dk1>
      <a:lt1>
        <a:srgbClr val="F1F5F9"/>
      </a:lt1>
      <a:dk2>
        <a:srgbClr val="132638"/>
      </a:dk2>
      <a:lt2>
        <a:srgbClr val="A3B0C2"/>
      </a:lt2>
      <a:accent1>
        <a:srgbClr val="3B82F6"/>
      </a:accent1>
      <a:accent2>
        <a:srgbClr val="93C5FD"/>
      </a:accent2>
      <a:accent3>
        <a:srgbClr val="D78A3C"/>
      </a:accent3>
      <a:accent4>
        <a:srgbClr val="22C55E"/>
      </a:accent4>
      <a:accent5>
        <a:srgbClr val="A3B0C2"/>
      </a:accent5>
      <a:accent6>
        <a:srgbClr val="0F1E2E"/>
      </a:accent6>
      <a:hlink>
        <a:srgbClr val="93C5FD"/>
      </a:hlink>
      <a:folHlink>
        <a:srgbClr val="A3B0C2"/>
      </a:folHlink>
    </a:clrScheme>
    <a:fontScheme name="Nakama">
      <a:majorFont>
        <a:latin typeface="Calibri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LibreOffice/26.8.1.1$Windows_X86_64 LibreOffice_project/bf6ef2662401c7d6dce671ab4deb26ee0af3a7c1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2026-10-25T09:17:08Z</dcterms:created>
  <dc:creator>PptxGenJS</dc:creator>
  <dc:description/>
  <dc:language>es-ES</dc:language>
  <cp:lastModifiedBy/>
  <dcterms:modified xsi:type="dcterms:W3CDTF">2026-10-25T10:49:20Z</dcterms:modified>
  <cp:revision>4</cp:revision>
  <dc:subject>PptxGenJS Presentation</dc:subject>
  <dc:title>Nakama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